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871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pattFill prst="pct5">
          <a:fgClr>
            <a:srgbClr val="12162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-1271155"/>
            <a:ext cx="4917671" cy="4997335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55266" y="4137660"/>
            <a:ext cx="2926080" cy="2926080"/>
          </a:xfrm>
          <a:prstGeom prst="ellipse">
            <a:avLst/>
          </a:prstGeom>
          <a:solidFill>
            <a:srgbClr val="3D5AA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MINI MES </a:t>
            </a: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생산관리시스템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518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등록부터 출하까지, 데이터로 잇는 생산 흐름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SQLite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엑셀로는 답하기 어려운 질문들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원자재 재고가 얼마나 남았지?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80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8346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제품 100박스 만들려면 원자재가 얼마나 필요하지?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8862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원자재에 문제가 생겼는데, 어떤 제품에 들어갔지?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472744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983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9377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불량품이 실수로 출하되지는 않았을까?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엑셀로 관리하면 실수가 생기기 쉽고, 추적도 어렵다 — 데이터베이스 기반으로 체계화가 필요했다.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품목부터 출하까지 하나로 이어지는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715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715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0848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3649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649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입고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7824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45840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5840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등록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27168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55184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55184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생산계획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6512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64528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64528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등록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5856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7387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7387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불량검사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520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8321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8321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023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LOT(입고·생산 묶음) 단위로 전 과정을 기록해, 문제가 생겨도 원인을 역추적할 수 있게 설계했다.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662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113522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522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화면(프론트엔드)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7278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138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138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3894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826754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+ 역할기반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6754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인증/권한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pattFill prst="pct5">
          <a:fgClr>
            <a:srgbClr val="12162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11개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테이블로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구성된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핵심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스키마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(ERD)</a:t>
            </a:r>
            <a:endParaRPr lang="en-US" sz="2800" b="1" dirty="0"/>
          </a:p>
        </p:txBody>
      </p:sp>
      <p:sp>
        <p:nvSpPr>
          <p:cNvPr id="4" name="Shape 2"/>
          <p:cNvSpPr/>
          <p:nvPr/>
        </p:nvSpPr>
        <p:spPr>
          <a:xfrm>
            <a:off x="2443854" y="1627632"/>
            <a:ext cx="7303987" cy="4334256"/>
          </a:xfrm>
          <a:prstGeom prst="roundRect">
            <a:avLst>
              <a:gd name="adj" fmla="val 1055"/>
            </a:avLst>
          </a:prstGeom>
          <a:solidFill>
            <a:srgbClr val="0A0D1A"/>
          </a:solidFill>
          <a:ln w="12700">
            <a:solidFill>
              <a:srgbClr val="2A3050"/>
            </a:solidFill>
            <a:prstDash val="solid"/>
          </a:ln>
        </p:spPr>
      </p:sp>
      <p:pic>
        <p:nvPicPr>
          <p:cNvPr id="5" name="Image 0" descr="/home/claude/mes_pptx/e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854" y="1737360"/>
            <a:ext cx="7194259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· lot · production · production_material · bom · inspection · defect_reason_code · production_plan · user · shipment · shipment_item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권한 관리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역할에 맞는 화면만 보여준다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07040" cy="39319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 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품목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/ 원자재 입고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생산계획 / 생산 등록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불량검사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출하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조회 / 추적 / 재고현황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역할에 따라 필요한 화면만 보이도록 홈 메뉴와 페이지 접근을 함께 제한한다. (INSPECTOR는 조회 위주로만 접근 가능)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BOM 자동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소요량 계산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8006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1개당 필요량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838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 1개당 필요량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880360"/>
            <a:ext cx="667512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24612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생산수량만 입력하면 BOM 기준으로 원자재 필요량이 자동 계산된다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재고와 비교해 부족한 원자재를 생산 등록 전에 미리 경고한다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계산기를 두드릴 필요가 없어져 입력 실수가 줄어든다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불합격 LOT은 시스템이 먼저 막는다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66708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직접 확인하던 방식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담당자가 결과를 기억하고 있어야 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담당자가 따로 확인해야 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바쁠 때 실수로 그냥 출하될 위험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E3E9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MES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판정된 LOT은 서버 단에서 저장 자체를 차단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화면에서 실수로 선택해도 최종적으로 막힘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실수를 시스템이 대신 잡아준다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 하나로 전체 이력을 추적한다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정방향 추적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→ 완제품 → 출하처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이마트 출하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원자재, 문제 생겼는데 어디까지 나갔지?” 에 즉시 답한다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0" cy="420624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역방향 추적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완제품 → 투입 원자재 전체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982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면발/스프/건더기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완제품 불량인데, 어떤 원자재가 원인이지?” 를 역으로 확인한다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보안과 데이터 정합성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E3E9F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5328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21945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비밀번호 해시 저장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74320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솔트(salt) + SHA-256으로 해시해 저장한다. 평문 비밀번호는 DB 어디에도 남지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4636008"/>
            <a:ext cx="640080" cy="64008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36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42976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 잠금 (BEGIN IMMEDIATE)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48463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사람이 동시에 같은 원자재를 쓰려고 하면, 순서를 강제로 정해 재고가 마이너스로 내려가는 걸 막는다.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(진행 중)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3계층 아키텍처로 리팩토링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Business Logic · Data 로 계층을 분리해 실무 표준 아키텍처 패턴을 경험한다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18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108950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950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950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8950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950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950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안에 통합 (src/queries.py)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8950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950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950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8950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950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950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단방향 해시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5586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E3E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018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018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018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018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018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018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(RESTful API)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018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018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018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018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018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018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+ JWT 토큰 인증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35828" y="35890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7240" y="6079375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품목(item) 기능부터 API로 완전히 전환한 뒤, 검증되면 다른 기능도 같은 패턴으로 옮겨간다 (Strangler Fig 패턴)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pattFill prst="divot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543829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1881"/>
              </p:ext>
            </p:extLst>
          </p:nvPr>
        </p:nvGraphicFramePr>
        <p:xfrm>
          <a:off x="674255" y="220903"/>
          <a:ext cx="11166763" cy="6420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1814">
                  <a:extLst>
                    <a:ext uri="{9D8B030D-6E8A-4147-A177-3AD203B41FA5}">
                      <a16:colId xmlns:a16="http://schemas.microsoft.com/office/drawing/2014/main" val="2355295060"/>
                    </a:ext>
                  </a:extLst>
                </a:gridCol>
                <a:gridCol w="7194949">
                  <a:extLst>
                    <a:ext uri="{9D8B030D-6E8A-4147-A177-3AD203B41FA5}">
                      <a16:colId xmlns:a16="http://schemas.microsoft.com/office/drawing/2014/main" val="1708134651"/>
                    </a:ext>
                  </a:extLst>
                </a:gridCol>
              </a:tblGrid>
              <a:tr h="3974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Q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A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57047"/>
                  </a:ext>
                </a:extLst>
              </a:tr>
              <a:tr h="67563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왜 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썼나요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소규모 시스템이라 별도 서버 없이 파일 하나로 관리 가능해서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운영 규모라면 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등으로 전환 가능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978514"/>
                  </a:ext>
                </a:extLst>
              </a:tr>
              <a:tr h="39743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동시에 여러 명이 쓰면 문제없나요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트랜잭션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(BEGIN IMMEDIATE)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재고 차감 시 경쟁 상태를 방지하도록 설계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636548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재고는 어떻게 계산하나요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별도 재고 테이블 없이</a:t>
                      </a:r>
                      <a:r>
                        <a:rPr lang="en-US" altLang="ko-KR" sz="1400" dirty="0">
                          <a:effectLst/>
                        </a:rPr>
                        <a:t>, "</a:t>
                      </a:r>
                      <a:r>
                        <a:rPr lang="ko-KR" altLang="en-US" sz="1400" dirty="0" err="1">
                          <a:effectLst/>
                        </a:rPr>
                        <a:t>총입고량</a:t>
                      </a:r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en-US" altLang="ko-KR" sz="1400" dirty="0">
                          <a:effectLst/>
                        </a:rPr>
                        <a:t>- </a:t>
                      </a:r>
                      <a:r>
                        <a:rPr lang="ko-KR" altLang="en-US" sz="1400" dirty="0" err="1">
                          <a:effectLst/>
                        </a:rPr>
                        <a:t>총사용량</a:t>
                      </a:r>
                      <a:r>
                        <a:rPr lang="en-US" altLang="ko-KR" sz="1400" dirty="0">
                          <a:effectLst/>
                        </a:rPr>
                        <a:t>"</a:t>
                      </a:r>
                      <a:r>
                        <a:rPr lang="ko-KR" altLang="en-US" sz="1400" dirty="0">
                          <a:effectLst/>
                        </a:rPr>
                        <a:t>을 매번 계산하는 방식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이력 추적이 용이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21477961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왜 완제품 </a:t>
                      </a:r>
                      <a:r>
                        <a:rPr lang="en-US" altLang="ko-KR" sz="1400" dirty="0">
                          <a:effectLst/>
                        </a:rPr>
                        <a:t>LOT</a:t>
                      </a:r>
                      <a:r>
                        <a:rPr lang="ko-KR" altLang="en-US" sz="1400" dirty="0">
                          <a:effectLst/>
                        </a:rPr>
                        <a:t>에 </a:t>
                      </a:r>
                      <a:r>
                        <a:rPr lang="ko-KR" altLang="en-US" sz="1400" dirty="0" err="1">
                          <a:effectLst/>
                        </a:rPr>
                        <a:t>유효기한이</a:t>
                      </a:r>
                      <a:r>
                        <a:rPr lang="ko-KR" altLang="en-US" sz="1400" dirty="0">
                          <a:effectLst/>
                        </a:rPr>
                        <a:t> 있나요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라면 같은 식품 특성상 </a:t>
                      </a:r>
                      <a:r>
                        <a:rPr lang="ko-KR" altLang="en-US" sz="1400" dirty="0" err="1">
                          <a:effectLst/>
                        </a:rPr>
                        <a:t>유효기한</a:t>
                      </a:r>
                      <a:r>
                        <a:rPr lang="ko-KR" altLang="en-US" sz="1400" dirty="0">
                          <a:effectLst/>
                        </a:rPr>
                        <a:t> 관리가 </a:t>
                      </a:r>
                      <a:r>
                        <a:rPr lang="ko-KR" altLang="en-US" sz="1400" dirty="0" err="1">
                          <a:effectLst/>
                        </a:rPr>
                        <a:t>필수라서</a:t>
                      </a:r>
                      <a:r>
                        <a:rPr lang="ko-KR" altLang="en-US" sz="1400" dirty="0">
                          <a:effectLst/>
                        </a:rPr>
                        <a:t> 넣었고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다른 업종 전환 시엔 선택 항목으로 둘 예정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17434654"/>
                  </a:ext>
                </a:extLst>
              </a:tr>
              <a:tr h="42723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보안은 어떻게 </a:t>
                      </a:r>
                      <a:r>
                        <a:rPr lang="ko-KR" altLang="en-US" sz="1400" dirty="0" err="1">
                          <a:effectLst/>
                        </a:rPr>
                        <a:t>처리했나요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비밀번호는 </a:t>
                      </a:r>
                      <a:r>
                        <a:rPr lang="ko-KR" altLang="en-US" sz="1400" dirty="0" err="1">
                          <a:effectLst/>
                        </a:rPr>
                        <a:t>평문</a:t>
                      </a:r>
                      <a:r>
                        <a:rPr lang="ko-KR" altLang="en-US" sz="1400" dirty="0">
                          <a:effectLst/>
                        </a:rPr>
                        <a:t> 저장 없이 </a:t>
                      </a:r>
                      <a:r>
                        <a:rPr lang="ko-KR" altLang="en-US" sz="1400" dirty="0" err="1">
                          <a:effectLst/>
                        </a:rPr>
                        <a:t>솔트</a:t>
                      </a:r>
                      <a:r>
                        <a:rPr lang="en-US" altLang="ko-KR" sz="1400" dirty="0">
                          <a:effectLst/>
                        </a:rPr>
                        <a:t>+SHA-256 </a:t>
                      </a:r>
                      <a:r>
                        <a:rPr lang="ko-KR" altLang="en-US" sz="1400" dirty="0">
                          <a:effectLst/>
                        </a:rPr>
                        <a:t>해시로 저장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31079487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왜 </a:t>
                      </a:r>
                      <a:r>
                        <a:rPr lang="en-US" altLang="ko-KR" sz="1400" dirty="0">
                          <a:effectLst/>
                        </a:rPr>
                        <a:t>OPERATOR</a:t>
                      </a:r>
                      <a:r>
                        <a:rPr lang="ko-KR" altLang="en-US" sz="1400" dirty="0">
                          <a:effectLst/>
                        </a:rPr>
                        <a:t>와 </a:t>
                      </a:r>
                      <a:r>
                        <a:rPr lang="en-US" altLang="ko-KR" sz="1400" dirty="0">
                          <a:effectLst/>
                        </a:rPr>
                        <a:t>INSPECTOR </a:t>
                      </a:r>
                      <a:r>
                        <a:rPr lang="ko-KR" altLang="en-US" sz="1400" dirty="0">
                          <a:effectLst/>
                        </a:rPr>
                        <a:t>권한을 </a:t>
                      </a:r>
                      <a:r>
                        <a:rPr lang="ko-KR" altLang="en-US" sz="1400" dirty="0" err="1">
                          <a:effectLst/>
                        </a:rPr>
                        <a:t>나눴나요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검사자가 실수로 생산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입고 데이터를 건드리지 않게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작업자가 검사 판정에 관여하지 않게 역할별로 화면 자체를 분리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82081759"/>
                  </a:ext>
                </a:extLst>
              </a:tr>
              <a:tr h="9836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생산계획과 실제 생산은 어떻게 연결되나요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ko-KR" sz="1400" dirty="0">
                          <a:effectLst/>
                        </a:rPr>
                        <a:t>production </a:t>
                      </a:r>
                      <a:r>
                        <a:rPr lang="ko-KR" altLang="en-US" sz="1400" dirty="0">
                          <a:effectLst/>
                        </a:rPr>
                        <a:t>테이블은 </a:t>
                      </a:r>
                      <a:r>
                        <a:rPr lang="en-US" altLang="ko-KR" sz="1400" dirty="0" err="1">
                          <a:effectLst/>
                        </a:rPr>
                        <a:t>output_lot_id</a:t>
                      </a:r>
                      <a:r>
                        <a:rPr lang="ko-KR" altLang="en-US" sz="1400" dirty="0">
                          <a:effectLst/>
                        </a:rPr>
                        <a:t>가 필수라 아직 실물이 없는 계획을 못 담아서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별도 </a:t>
                      </a:r>
                      <a:r>
                        <a:rPr lang="en-US" altLang="ko-KR" sz="1400" dirty="0" err="1">
                          <a:effectLst/>
                        </a:rPr>
                        <a:t>production_plan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ko-KR" altLang="en-US" sz="1400" dirty="0">
                          <a:effectLst/>
                        </a:rPr>
                        <a:t>테이블로 분리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생산 등록 시 계획을 선택하면 자동으로 계획이 </a:t>
                      </a:r>
                      <a:r>
                        <a:rPr lang="en-US" altLang="ko-KR" sz="1400" dirty="0">
                          <a:effectLst/>
                        </a:rPr>
                        <a:t>COMPLETED</a:t>
                      </a:r>
                      <a:r>
                        <a:rPr lang="ko-KR" altLang="en-US" sz="1400" dirty="0">
                          <a:effectLst/>
                        </a:rPr>
                        <a:t>로 전환되며 연결됨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1947976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BOM</a:t>
                      </a:r>
                      <a:r>
                        <a:rPr lang="ko-KR" altLang="en-US" sz="1400" dirty="0">
                          <a:effectLst/>
                        </a:rPr>
                        <a:t>은 왜 필요한가요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제품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단위당 원자재 소요량을 미리 </a:t>
                      </a:r>
                      <a:r>
                        <a:rPr lang="ko-KR" altLang="en-US" sz="1400" dirty="0" err="1">
                          <a:effectLst/>
                        </a:rPr>
                        <a:t>정의해두면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생산수량만</a:t>
                      </a:r>
                      <a:r>
                        <a:rPr lang="ko-KR" altLang="en-US" sz="1400" dirty="0">
                          <a:effectLst/>
                        </a:rPr>
                        <a:t> 입력해도 필요한 원자재 양과 부족 여부가 자동 계산됨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사람이 매번 계산할 필요가 없어짐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34877177"/>
                  </a:ext>
                </a:extLst>
              </a:tr>
              <a:tr h="7169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불합격</a:t>
                      </a:r>
                      <a:r>
                        <a:rPr lang="en-US" altLang="ko-KR" sz="1400" dirty="0">
                          <a:effectLst/>
                        </a:rPr>
                        <a:t>(FAIL) LOT</a:t>
                      </a:r>
                      <a:r>
                        <a:rPr lang="ko-KR" altLang="en-US" sz="1400" dirty="0">
                          <a:effectLst/>
                        </a:rPr>
                        <a:t>는 어떻게 막나요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출하 등록 시 선택한 </a:t>
                      </a:r>
                      <a:r>
                        <a:rPr lang="en-US" altLang="ko-KR" sz="1400" dirty="0">
                          <a:effectLst/>
                        </a:rPr>
                        <a:t>LOT</a:t>
                      </a:r>
                      <a:r>
                        <a:rPr lang="ko-KR" altLang="en-US" sz="1400" dirty="0">
                          <a:effectLst/>
                        </a:rPr>
                        <a:t>의 검사 결과를 다시 조회해서</a:t>
                      </a:r>
                      <a:r>
                        <a:rPr lang="en-US" altLang="ko-KR" sz="1400" dirty="0">
                          <a:effectLst/>
                        </a:rPr>
                        <a:t>, FAIL</a:t>
                      </a:r>
                      <a:r>
                        <a:rPr lang="ko-KR" altLang="en-US" sz="1400" dirty="0">
                          <a:effectLst/>
                        </a:rPr>
                        <a:t>이면 서버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백엔드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단에서 저장 자체를 막음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화면에서 실수로 선택해도 최종적으로 차단됨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06257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779</Words>
  <Application>Microsoft Office PowerPoint</Application>
  <PresentationFormat>와이드스크린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2026-08-05T03:54:27Z</dcterms:created>
  <dcterms:modified xsi:type="dcterms:W3CDTF">2026-08-05T06:40:03Z</dcterms:modified>
</cp:coreProperties>
</file>