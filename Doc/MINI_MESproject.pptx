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108" y="8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7871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pattFill prst="pct5">
          <a:fgClr>
            <a:srgbClr val="12162B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-1271155"/>
            <a:ext cx="4917671" cy="4997335"/>
          </a:xfrm>
          <a:prstGeom prst="ellipse">
            <a:avLst/>
          </a:prstGeom>
          <a:solidFill>
            <a:srgbClr val="1E2761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455266" y="4137660"/>
            <a:ext cx="2926080" cy="2926080"/>
          </a:xfrm>
          <a:prstGeom prst="ellipse">
            <a:avLst/>
          </a:prstGeom>
          <a:solidFill>
            <a:srgbClr val="3D5AA8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9F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MES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237744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 smtClean="0">
                <a:latin typeface="Cambria" pitchFamily="34" charset="0"/>
                <a:ea typeface="Cambria" pitchFamily="34" charset="-122"/>
                <a:cs typeface="Cambria" pitchFamily="34" charset="-120"/>
              </a:rPr>
              <a:t>MINI MES </a:t>
            </a:r>
            <a:r>
              <a:rPr lang="en-US" sz="46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생산관리시스템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4518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4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품목 등록부터 출하까지, 데이터로 잇는 생산 흐름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4343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Streamlit · SQLite</a:t>
            </a:r>
            <a:endParaRPr lang="en-US" sz="1300" dirty="0"/>
          </a:p>
        </p:txBody>
      </p:sp>
      <p:sp>
        <p:nvSpPr>
          <p:cNvPr id="10" name="Text 3"/>
          <p:cNvSpPr/>
          <p:nvPr/>
        </p:nvSpPr>
        <p:spPr>
          <a:xfrm>
            <a:off x="822959" y="5459024"/>
            <a:ext cx="1878295" cy="283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b="1" dirty="0" smtClean="0">
                <a:latin typeface="Cambria" pitchFamily="34" charset="0"/>
              </a:rPr>
              <a:t>부산인력개발원 이채원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pattFill prst="pct5">
          <a:fgClr>
            <a:srgbClr val="FFFFFF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필요성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1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엑셀로는 답하기 어려운 질문들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91640" y="178308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2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 원자재 재고가 얼마나 남았지?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85800" y="2624328"/>
            <a:ext cx="10607040" cy="0"/>
          </a:xfrm>
          <a:prstGeom prst="line">
            <a:avLst/>
          </a:prstGeom>
          <a:noFill/>
          <a:ln w="12700">
            <a:solidFill>
              <a:srgbClr val="E4E4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88036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880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91640" y="283464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2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제품 100박스 만들려면 원자재가 얼마나 필요하지?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3675888"/>
            <a:ext cx="10607040" cy="0"/>
          </a:xfrm>
          <a:prstGeom prst="line">
            <a:avLst/>
          </a:prstGeom>
          <a:noFill/>
          <a:ln w="12700">
            <a:solidFill>
              <a:srgbClr val="E4E4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93192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931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388620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2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원자재에 문제가 생겼는데, 어떤 제품에 들어갔지?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85800" y="4727448"/>
            <a:ext cx="10607040" cy="0"/>
          </a:xfrm>
          <a:prstGeom prst="line">
            <a:avLst/>
          </a:prstGeom>
          <a:noFill/>
          <a:ln w="12700">
            <a:solidFill>
              <a:srgbClr val="E4E4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498348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983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91640" y="493776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2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불량품이 실수로 출하되지는 않았을까?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" y="61722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엑셀로 관리하면 실수가 생기기 쉽고, 추적도 어렵다 — 데이터베이스 기반으로 체계화가 필요했다.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구조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1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품목부터 출하까지 하나로 이어지는 흐름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27152" y="2331720"/>
            <a:ext cx="1481328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27152" y="2331720"/>
            <a:ext cx="1481328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품목 등록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008480" y="2331720"/>
            <a:ext cx="1463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136496" y="2331720"/>
            <a:ext cx="1481328" cy="1188720"/>
          </a:xfrm>
          <a:prstGeom prst="roundRect">
            <a:avLst>
              <a:gd name="adj" fmla="val 6154"/>
            </a:avLst>
          </a:prstGeom>
          <a:solidFill>
            <a:srgbClr val="3D5AA8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136496" y="2331720"/>
            <a:ext cx="1481328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원자재 입고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17824" y="2331720"/>
            <a:ext cx="1463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745840" y="2331720"/>
            <a:ext cx="1481328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45840" y="2331720"/>
            <a:ext cx="1481328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등록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27168" y="2331720"/>
            <a:ext cx="1463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355184" y="2331720"/>
            <a:ext cx="1481328" cy="1188720"/>
          </a:xfrm>
          <a:prstGeom prst="roundRect">
            <a:avLst>
              <a:gd name="adj" fmla="val 6154"/>
            </a:avLst>
          </a:prstGeom>
          <a:solidFill>
            <a:srgbClr val="3D5AA8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55184" y="2331720"/>
            <a:ext cx="1481328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생산계획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36512" y="2331720"/>
            <a:ext cx="1463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964528" y="2331720"/>
            <a:ext cx="1481328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64528" y="2331720"/>
            <a:ext cx="1481328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생산 등록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45856" y="2331720"/>
            <a:ext cx="1463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573872" y="2331720"/>
            <a:ext cx="1481328" cy="1188720"/>
          </a:xfrm>
          <a:prstGeom prst="roundRect">
            <a:avLst>
              <a:gd name="adj" fmla="val 6154"/>
            </a:avLst>
          </a:prstGeom>
          <a:solidFill>
            <a:srgbClr val="3D5AA8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573872" y="2331720"/>
            <a:ext cx="1481328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불량검사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5200" y="2331720"/>
            <a:ext cx="1463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10183216" y="2331720"/>
            <a:ext cx="1481328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183216" y="2331720"/>
            <a:ext cx="1481328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출하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97280" y="402336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LOT(입고·생산 묶음) 단위로 전 과정을 기록해, 문제가 생겨도 원인을 역추적할 수 있게 설계했다.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06628" y="4892040"/>
            <a:ext cx="3246120" cy="1143000"/>
          </a:xfrm>
          <a:prstGeom prst="roundRect">
            <a:avLst>
              <a:gd name="adj" fmla="val 4800"/>
            </a:avLst>
          </a:prstGeom>
          <a:solidFill>
            <a:srgbClr val="F2F4F8"/>
          </a:solidFill>
          <a:ln/>
        </p:spPr>
      </p:sp>
      <p:sp>
        <p:nvSpPr>
          <p:cNvPr id="26" name="Text 24"/>
          <p:cNvSpPr/>
          <p:nvPr/>
        </p:nvSpPr>
        <p:spPr>
          <a:xfrm>
            <a:off x="1135228" y="502920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1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135228" y="54406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화면(프론트엔드)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472788" y="4892040"/>
            <a:ext cx="3246120" cy="1143000"/>
          </a:xfrm>
          <a:prstGeom prst="roundRect">
            <a:avLst>
              <a:gd name="adj" fmla="val 4800"/>
            </a:avLst>
          </a:prstGeom>
          <a:solidFill>
            <a:srgbClr val="F2F4F8"/>
          </a:solidFill>
          <a:ln/>
        </p:spPr>
      </p:sp>
      <p:sp>
        <p:nvSpPr>
          <p:cNvPr id="29" name="Text 27"/>
          <p:cNvSpPr/>
          <p:nvPr/>
        </p:nvSpPr>
        <p:spPr>
          <a:xfrm>
            <a:off x="4701388" y="502920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1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701388" y="54406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데이터베이스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038948" y="4892040"/>
            <a:ext cx="3246120" cy="1143000"/>
          </a:xfrm>
          <a:prstGeom prst="roundRect">
            <a:avLst>
              <a:gd name="adj" fmla="val 4800"/>
            </a:avLst>
          </a:prstGeom>
          <a:solidFill>
            <a:srgbClr val="F2F4F8"/>
          </a:solidFill>
          <a:ln/>
        </p:spPr>
      </p:sp>
      <p:sp>
        <p:nvSpPr>
          <p:cNvPr id="32" name="Text 30"/>
          <p:cNvSpPr/>
          <p:nvPr/>
        </p:nvSpPr>
        <p:spPr>
          <a:xfrm>
            <a:off x="8267548" y="502920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1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SHA-256 + 역할기반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267548" y="54406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인증/권한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pattFill prst="pct5">
          <a:fgClr>
            <a:srgbClr val="12162B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790956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smtClean="0">
                <a:latin typeface="Cambria" pitchFamily="34" charset="0"/>
                <a:ea typeface="Cambria" pitchFamily="34" charset="-122"/>
                <a:cs typeface="Cambria" pitchFamily="34" charset="-120"/>
              </a:rPr>
              <a:t>11개 </a:t>
            </a:r>
            <a:r>
              <a:rPr lang="en-US" sz="2800" b="1" dirty="0" err="1" smtClean="0">
                <a:latin typeface="Cambria" pitchFamily="34" charset="0"/>
                <a:ea typeface="Cambria" pitchFamily="34" charset="-122"/>
                <a:cs typeface="Cambria" pitchFamily="34" charset="-120"/>
              </a:rPr>
              <a:t>테이블로</a:t>
            </a:r>
            <a:r>
              <a:rPr lang="en-US" sz="2800" b="1" dirty="0" smtClean="0"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800" b="1" dirty="0" err="1" smtClean="0">
                <a:latin typeface="Cambria" pitchFamily="34" charset="0"/>
                <a:ea typeface="Cambria" pitchFamily="34" charset="-122"/>
                <a:cs typeface="Cambria" pitchFamily="34" charset="-120"/>
              </a:rPr>
              <a:t>구성된</a:t>
            </a:r>
            <a:r>
              <a:rPr lang="en-US" sz="2800" b="1" dirty="0" smtClean="0"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800" b="1" dirty="0" err="1" smtClean="0">
                <a:latin typeface="Cambria" pitchFamily="34" charset="0"/>
                <a:ea typeface="Cambria" pitchFamily="34" charset="-122"/>
                <a:cs typeface="Cambria" pitchFamily="34" charset="-120"/>
              </a:rPr>
              <a:t>핵심</a:t>
            </a:r>
            <a:r>
              <a:rPr lang="en-US" sz="2800" b="1" dirty="0" smtClean="0"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800" b="1" dirty="0" err="1" smtClean="0">
                <a:latin typeface="Cambria" pitchFamily="34" charset="0"/>
                <a:ea typeface="Cambria" pitchFamily="34" charset="-122"/>
                <a:cs typeface="Cambria" pitchFamily="34" charset="-120"/>
              </a:rPr>
              <a:t>스키마</a:t>
            </a:r>
            <a:r>
              <a:rPr lang="en-US" sz="2800" b="1" dirty="0" smtClean="0">
                <a:latin typeface="Cambria" pitchFamily="34" charset="0"/>
                <a:ea typeface="Cambria" pitchFamily="34" charset="-122"/>
                <a:cs typeface="Cambria" pitchFamily="34" charset="-120"/>
              </a:rPr>
              <a:t> (ERD)</a:t>
            </a:r>
            <a:endParaRPr lang="en-US" sz="2800" b="1" dirty="0"/>
          </a:p>
        </p:txBody>
      </p:sp>
      <p:sp>
        <p:nvSpPr>
          <p:cNvPr id="4" name="Shape 2"/>
          <p:cNvSpPr/>
          <p:nvPr/>
        </p:nvSpPr>
        <p:spPr>
          <a:xfrm>
            <a:off x="2443854" y="1627632"/>
            <a:ext cx="7303987" cy="4334256"/>
          </a:xfrm>
          <a:prstGeom prst="roundRect">
            <a:avLst>
              <a:gd name="adj" fmla="val 1055"/>
            </a:avLst>
          </a:prstGeom>
          <a:solidFill>
            <a:srgbClr val="0A0D1A"/>
          </a:solidFill>
          <a:ln w="12700">
            <a:solidFill>
              <a:srgbClr val="2A3050"/>
            </a:solidFill>
            <a:prstDash val="solid"/>
          </a:ln>
        </p:spPr>
      </p:sp>
      <p:pic>
        <p:nvPicPr>
          <p:cNvPr id="5" name="Image 0" descr="/home/claude/mes_pptx/er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3854" y="1737360"/>
            <a:ext cx="7194259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01675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8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 · lot · production · production_material · bom · inspection · defect_reason_code · production_plan · user · shipment · shipment_item</a:t>
            </a:r>
            <a:endParaRPr lang="en-US" sz="1000" b="1" dirty="0"/>
          </a:p>
        </p:txBody>
      </p:sp>
      <p:sp>
        <p:nvSpPr>
          <p:cNvPr id="8" name="Text 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9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 kern="0" spc="200" dirty="0" smtClean="0">
                <a:solidFill>
                  <a:srgbClr val="1E2761"/>
                </a:solidFill>
                <a:latin typeface="Calibri" pitchFamily="34" charset="0"/>
                <a:cs typeface="Calibri" pitchFamily="34" charset="-120"/>
              </a:rPr>
              <a:t>테이블 모델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· 권한 관리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1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역할에 맞는 화면만 보여준다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91640"/>
          <a:ext cx="10607040" cy="3931920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14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페이지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🛡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 ⚙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INSPECTOR 🔍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2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품목 관리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2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BOM / 원자재 입고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2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생산계획 / 생산 등록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2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불량검사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2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출하 관리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2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LOT 조회 / 추적 / 재고현황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2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사용자 관리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77240" y="58064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역할에 따라 필요한 화면만 보이도록 홈 메뉴와 페이지 접근을 함께 제한한다. (INSPECTOR는 조회 위주로만 접근 가능)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/>
        </p:spPr>
      </p:sp>
      <p:sp>
        <p:nvSpPr>
          <p:cNvPr id="3" name="Text 1"/>
          <p:cNvSpPr/>
          <p:nvPr/>
        </p:nvSpPr>
        <p:spPr>
          <a:xfrm>
            <a:off x="640080" y="2331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9F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269748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8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BOM 자동</a:t>
            </a:r>
            <a:endParaRPr lang="en-US" sz="2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8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소요량 계산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754880" y="13716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120g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800600" y="2240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면발 1개당 필요량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38160" y="13716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15g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8183880" y="2240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스프 1개당 필요량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2880360"/>
            <a:ext cx="6675120" cy="0"/>
          </a:xfrm>
          <a:prstGeom prst="line">
            <a:avLst/>
          </a:prstGeom>
          <a:noFill/>
          <a:ln w="12700">
            <a:solidFill>
              <a:srgbClr val="E4E4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3246120"/>
            <a:ext cx="6675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2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생산수량만 입력하면 BOM 기준으로 원자재 필요량이 자동 계산된다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2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재고와 비교해 부족한 원자재를 생산 등록 전에 미리 경고한다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2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사람이 계산기를 두드릴 필요가 없어져 입력 실수가 줄어든다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1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불합격 LOT은 시스템이 먼저 막는다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" y="1874520"/>
            <a:ext cx="5120640" cy="3931920"/>
          </a:xfrm>
          <a:prstGeom prst="roundRect">
            <a:avLst>
              <a:gd name="adj" fmla="val 1860"/>
            </a:avLst>
          </a:prstGeom>
          <a:solidFill>
            <a:srgbClr val="F2F4F8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2194560"/>
            <a:ext cx="548640" cy="548640"/>
          </a:xfrm>
          <a:prstGeom prst="ellipse">
            <a:avLst/>
          </a:prstGeom>
          <a:solidFill>
            <a:srgbClr val="667085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0" y="2240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1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사람이 직접 확인하던 방식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880360"/>
            <a:ext cx="4572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검사 담당자가 결과를 기억하고 있어야 함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출하 담당자가 따로 확인해야 함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바쁠 때 실수로 그냥 출하될 위험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1874520"/>
            <a:ext cx="5120640" cy="3931920"/>
          </a:xfrm>
          <a:prstGeom prst="roundRect">
            <a:avLst>
              <a:gd name="adj" fmla="val 1860"/>
            </a:avLst>
          </a:prstGeom>
          <a:solidFill>
            <a:srgbClr val="E3E9FA"/>
          </a:solidFill>
          <a:ln/>
        </p:spPr>
      </p:sp>
      <p:sp>
        <p:nvSpPr>
          <p:cNvPr id="10" name="Shape 8"/>
          <p:cNvSpPr/>
          <p:nvPr/>
        </p:nvSpPr>
        <p:spPr>
          <a:xfrm>
            <a:off x="6583680" y="21945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0" y="2240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1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MES 방식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37960" y="2880360"/>
            <a:ext cx="4572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2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판정된 LOT은 서버 단에서 저장 자체를 차단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2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화면에서 실수로 선택해도 최종적으로 막힘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2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사람의 실수를 시스템이 대신 잡아준다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1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LOT 하나로 전체 이력을 추적한다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정방향 추적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240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원자재 → 완제품 → 출하처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77240" y="2743200"/>
            <a:ext cx="1508760" cy="868680"/>
          </a:xfrm>
          <a:prstGeom prst="roundRect">
            <a:avLst>
              <a:gd name="adj" fmla="val 6316"/>
            </a:avLst>
          </a:prstGeom>
          <a:solidFill>
            <a:srgbClr val="3D5AA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743200"/>
            <a:ext cx="150876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면발 LOT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0" y="274320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560320" y="2743200"/>
            <a:ext cx="1508760" cy="868680"/>
          </a:xfrm>
          <a:prstGeom prst="roundRect">
            <a:avLst>
              <a:gd name="adj" fmla="val 6316"/>
            </a:avLst>
          </a:prstGeom>
          <a:solidFill>
            <a:srgbClr val="3D5AA8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2743200"/>
            <a:ext cx="150876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신라면 LOT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069080" y="274320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43400" y="2743200"/>
            <a:ext cx="1508760" cy="868680"/>
          </a:xfrm>
          <a:prstGeom prst="roundRect">
            <a:avLst>
              <a:gd name="adj" fmla="val 6316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4343400" y="2743200"/>
            <a:ext cx="150876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이마트 출하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388620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“이 원자재, 문제 생겼는데 어디까지 나갔지?” 에 즉시 답한다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09360" y="1920240"/>
            <a:ext cx="0" cy="4206240"/>
          </a:xfrm>
          <a:prstGeom prst="line">
            <a:avLst/>
          </a:prstGeom>
          <a:noFill/>
          <a:ln w="12700">
            <a:solidFill>
              <a:srgbClr val="E4E4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역방향 추적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83680" y="2240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완제품 → 투입 원자재 전체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83680" y="2743200"/>
            <a:ext cx="2240280" cy="868680"/>
          </a:xfrm>
          <a:prstGeom prst="roundRect">
            <a:avLst>
              <a:gd name="adj" fmla="val 6316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2743200"/>
            <a:ext cx="224028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신라면 LOT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823960" y="274320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098280" y="2743200"/>
            <a:ext cx="2240280" cy="868680"/>
          </a:xfrm>
          <a:prstGeom prst="roundRect">
            <a:avLst>
              <a:gd name="adj" fmla="val 6316"/>
            </a:avLst>
          </a:prstGeom>
          <a:solidFill>
            <a:srgbClr val="3D5AA8"/>
          </a:solidFill>
          <a:ln/>
        </p:spPr>
      </p:sp>
      <p:sp>
        <p:nvSpPr>
          <p:cNvPr id="22" name="Text 20"/>
          <p:cNvSpPr/>
          <p:nvPr/>
        </p:nvSpPr>
        <p:spPr>
          <a:xfrm>
            <a:off x="9098280" y="2743200"/>
            <a:ext cx="224028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면발/스프/건더기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0" y="38862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“이 완제품 불량인데, 어떤 원자재가 원인이지?” 를 역으로 확인한다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신뢰성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1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보안과 데이터 정합성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" y="1965960"/>
            <a:ext cx="10607040" cy="1783080"/>
          </a:xfrm>
          <a:prstGeom prst="roundRect">
            <a:avLst>
              <a:gd name="adj" fmla="val 3590"/>
            </a:avLst>
          </a:prstGeom>
          <a:solidFill>
            <a:srgbClr val="E3E9FA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2532888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5328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🔐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965960" y="219456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1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비밀번호 해시 저장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965960" y="2743200"/>
            <a:ext cx="9052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솔트(salt) + SHA-256으로 해시해 저장한다. 평문 비밀번호는 DB 어디에도 남지 않는다.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4069080"/>
            <a:ext cx="10607040" cy="1783080"/>
          </a:xfrm>
          <a:prstGeom prst="roundRect">
            <a:avLst>
              <a:gd name="adj" fmla="val 3590"/>
            </a:avLst>
          </a:prstGeom>
          <a:solidFill>
            <a:srgbClr val="F2F4F8"/>
          </a:solidFill>
          <a:ln/>
        </p:spPr>
      </p:sp>
      <p:sp>
        <p:nvSpPr>
          <p:cNvPr id="10" name="Shape 8"/>
          <p:cNvSpPr/>
          <p:nvPr/>
        </p:nvSpPr>
        <p:spPr>
          <a:xfrm>
            <a:off x="1051560" y="4636008"/>
            <a:ext cx="640080" cy="640080"/>
          </a:xfrm>
          <a:prstGeom prst="ellipse">
            <a:avLst/>
          </a:prstGeom>
          <a:solidFill>
            <a:srgbClr val="12162B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46360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⏱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965960" y="429768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1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트랜잭션 잠금 (BEGIN IMMEDIATE)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965960" y="4846320"/>
            <a:ext cx="9052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사람이 동시에 같은 원자재를 쓰려고 하면, 순서를 강제로 정해 재고가 마이너스로 내려가는 걸 막는다.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단계 (진행 중)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3152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1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3계층 아키텍처로 리팩토링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· Business Logic · Data 로 계층을 분리해 실무 표준 아키텍처 패턴을 경험한다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15188" y="1920240"/>
            <a:ext cx="5120640" cy="3977640"/>
          </a:xfrm>
          <a:prstGeom prst="roundRect">
            <a:avLst>
              <a:gd name="adj" fmla="val 1839"/>
            </a:avLst>
          </a:prstGeom>
          <a:solidFill>
            <a:srgbClr val="F2F4F8"/>
          </a:solidFill>
          <a:ln/>
        </p:spPr>
      </p:sp>
      <p:sp>
        <p:nvSpPr>
          <p:cNvPr id="6" name="Text 4"/>
          <p:cNvSpPr/>
          <p:nvPr/>
        </p:nvSpPr>
        <p:spPr>
          <a:xfrm>
            <a:off x="1089508" y="2148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89508" y="2697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89508" y="295351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16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089508" y="3410712"/>
            <a:ext cx="4572000" cy="0"/>
          </a:xfrm>
          <a:prstGeom prst="line">
            <a:avLst/>
          </a:prstGeom>
          <a:noFill/>
          <a:ln w="9525">
            <a:solidFill>
              <a:srgbClr val="DADF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89508" y="3474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89508" y="373075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16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안에 통합 (src/queries.py)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089508" y="4187952"/>
            <a:ext cx="4572000" cy="0"/>
          </a:xfrm>
          <a:prstGeom prst="line">
            <a:avLst/>
          </a:prstGeom>
          <a:noFill/>
          <a:ln w="9525">
            <a:solidFill>
              <a:srgbClr val="DADF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89508" y="4251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89508" y="450799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16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SQLite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089508" y="4965192"/>
            <a:ext cx="4572000" cy="0"/>
          </a:xfrm>
          <a:prstGeom prst="line">
            <a:avLst/>
          </a:prstGeom>
          <a:noFill/>
          <a:ln w="9525">
            <a:solidFill>
              <a:srgbClr val="DADF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89508" y="5029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인증 방식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089508" y="528523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16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SHA-256 단방향 해시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255868" y="1920240"/>
            <a:ext cx="5120640" cy="3977640"/>
          </a:xfrm>
          <a:prstGeom prst="roundRect">
            <a:avLst>
              <a:gd name="adj" fmla="val 1839"/>
            </a:avLst>
          </a:prstGeom>
          <a:solidFill>
            <a:srgbClr val="E3E9FA"/>
          </a:solidFill>
          <a:ln/>
        </p:spPr>
      </p:sp>
      <p:sp>
        <p:nvSpPr>
          <p:cNvPr id="19" name="Text 17"/>
          <p:cNvSpPr/>
          <p:nvPr/>
        </p:nvSpPr>
        <p:spPr>
          <a:xfrm>
            <a:off x="6530188" y="2148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30188" y="2697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530188" y="295351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16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530188" y="3410712"/>
            <a:ext cx="4572000" cy="0"/>
          </a:xfrm>
          <a:prstGeom prst="line">
            <a:avLst/>
          </a:prstGeom>
          <a:noFill/>
          <a:ln w="9525">
            <a:solidFill>
              <a:srgbClr val="DADF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0188" y="3474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530188" y="373075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16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FastAPI (RESTful API)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530188" y="4187952"/>
            <a:ext cx="4572000" cy="0"/>
          </a:xfrm>
          <a:prstGeom prst="line">
            <a:avLst/>
          </a:prstGeom>
          <a:noFill/>
          <a:ln w="9525">
            <a:solidFill>
              <a:srgbClr val="DADF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30188" y="4251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530188" y="450799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16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PostgreSQL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530188" y="4965192"/>
            <a:ext cx="4572000" cy="0"/>
          </a:xfrm>
          <a:prstGeom prst="line">
            <a:avLst/>
          </a:prstGeom>
          <a:noFill/>
          <a:ln w="9525">
            <a:solidFill>
              <a:srgbClr val="DADF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30188" y="5029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인증 방식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530188" y="528523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16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Bcrypt + JWT 토큰 인증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5935828" y="358902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77240" y="6079375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품목(item) 기능부터 API로 완전히 전환한 뒤, 검증되면 다른 기능도 같은 패턴으로 옮겨간다 (Strangler Fig 패턴)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pattFill prst="divot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246888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543829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2243211"/>
              </p:ext>
            </p:extLst>
          </p:nvPr>
        </p:nvGraphicFramePr>
        <p:xfrm>
          <a:off x="231648" y="220903"/>
          <a:ext cx="11814048" cy="65456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2041">
                  <a:extLst>
                    <a:ext uri="{9D8B030D-6E8A-4147-A177-3AD203B41FA5}">
                      <a16:colId xmlns:a16="http://schemas.microsoft.com/office/drawing/2014/main" val="2355295060"/>
                    </a:ext>
                  </a:extLst>
                </a:gridCol>
                <a:gridCol w="7612007">
                  <a:extLst>
                    <a:ext uri="{9D8B030D-6E8A-4147-A177-3AD203B41FA5}">
                      <a16:colId xmlns:a16="http://schemas.microsoft.com/office/drawing/2014/main" val="1708134651"/>
                    </a:ext>
                  </a:extLst>
                </a:gridCol>
              </a:tblGrid>
              <a:tr h="40520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Q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A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657047"/>
                  </a:ext>
                </a:extLst>
              </a:tr>
              <a:tr h="68885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왜 </a:t>
                      </a:r>
                      <a:r>
                        <a:rPr lang="en-US" altLang="ko-KR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SQLite</a:t>
                      </a:r>
                      <a:r>
                        <a:rPr lang="ko-KR" alt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를 썼나요</a:t>
                      </a:r>
                      <a:r>
                        <a:rPr lang="en-US" altLang="ko-KR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?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소규모 시스템이라 별도 서버 없이 파일 하나로 관리 가능해서</a:t>
                      </a:r>
                      <a:r>
                        <a:rPr lang="en-US" altLang="ko-KR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실제 운영 규모라면 </a:t>
                      </a:r>
                      <a:r>
                        <a:rPr lang="en-US" altLang="ko-KR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PostgreSQL </a:t>
                      </a:r>
                      <a:r>
                        <a:rPr lang="ko-KR" alt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등으로 전환 가능</a:t>
                      </a:r>
                      <a:r>
                        <a:rPr lang="en-US" altLang="ko-KR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5978514"/>
                  </a:ext>
                </a:extLst>
              </a:tr>
              <a:tr h="40520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동시에 여러 명이 쓰면 문제없나요</a:t>
                      </a:r>
                      <a:r>
                        <a:rPr lang="en-US" altLang="ko-KR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?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트랜잭션</a:t>
                      </a:r>
                      <a:r>
                        <a:rPr lang="en-US" altLang="ko-KR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(BEGIN IMMEDIATE)</a:t>
                      </a:r>
                      <a:r>
                        <a:rPr lang="ko-KR" alt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으로 재고 차감 시 경쟁 상태를 방지하도록 설계</a:t>
                      </a:r>
                      <a:r>
                        <a:rPr lang="en-US" altLang="ko-KR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3636548"/>
                  </a:ext>
                </a:extLst>
              </a:tr>
              <a:tr h="719242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dirty="0">
                          <a:effectLst/>
                        </a:rPr>
                        <a:t>재고는 어떻게 계산하나요</a:t>
                      </a:r>
                      <a:r>
                        <a:rPr lang="en-US" altLang="ko-KR" sz="1400" dirty="0">
                          <a:effectLst/>
                        </a:rPr>
                        <a:t>?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ko-KR" altLang="en-US" sz="1400" dirty="0">
                          <a:effectLst/>
                        </a:rPr>
                        <a:t>별도 재고 테이블 없이</a:t>
                      </a:r>
                      <a:r>
                        <a:rPr lang="en-US" altLang="ko-KR" sz="1400" dirty="0">
                          <a:effectLst/>
                        </a:rPr>
                        <a:t>, "</a:t>
                      </a:r>
                      <a:r>
                        <a:rPr lang="ko-KR" altLang="en-US" sz="1400" dirty="0" err="1">
                          <a:effectLst/>
                        </a:rPr>
                        <a:t>총입고량</a:t>
                      </a:r>
                      <a:r>
                        <a:rPr lang="ko-KR" altLang="en-US" sz="1400" dirty="0">
                          <a:effectLst/>
                        </a:rPr>
                        <a:t> </a:t>
                      </a:r>
                      <a:r>
                        <a:rPr lang="en-US" altLang="ko-KR" sz="1400" dirty="0">
                          <a:effectLst/>
                        </a:rPr>
                        <a:t>- </a:t>
                      </a:r>
                      <a:r>
                        <a:rPr lang="ko-KR" altLang="en-US" sz="1400" dirty="0" err="1">
                          <a:effectLst/>
                        </a:rPr>
                        <a:t>총사용량</a:t>
                      </a:r>
                      <a:r>
                        <a:rPr lang="en-US" altLang="ko-KR" sz="1400" dirty="0">
                          <a:effectLst/>
                        </a:rPr>
                        <a:t>"</a:t>
                      </a:r>
                      <a:r>
                        <a:rPr lang="ko-KR" altLang="en-US" sz="1400" dirty="0">
                          <a:effectLst/>
                        </a:rPr>
                        <a:t>을 매번 계산하는 방식</a:t>
                      </a:r>
                      <a:r>
                        <a:rPr lang="en-US" altLang="ko-KR" sz="1400" dirty="0">
                          <a:effectLst/>
                        </a:rPr>
                        <a:t>. </a:t>
                      </a:r>
                      <a:r>
                        <a:rPr lang="ko-KR" altLang="en-US" sz="1400" dirty="0">
                          <a:effectLst/>
                        </a:rPr>
                        <a:t>이력 추적이 용이</a:t>
                      </a:r>
                      <a:r>
                        <a:rPr lang="en-US" altLang="ko-KR" sz="1400" dirty="0">
                          <a:effectLst/>
                        </a:rPr>
                        <a:t>.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921477961"/>
                  </a:ext>
                </a:extLst>
              </a:tr>
              <a:tr h="719242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dirty="0">
                          <a:effectLst/>
                        </a:rPr>
                        <a:t>왜 완제품 </a:t>
                      </a:r>
                      <a:r>
                        <a:rPr lang="en-US" altLang="ko-KR" sz="1400" dirty="0">
                          <a:effectLst/>
                        </a:rPr>
                        <a:t>LOT</a:t>
                      </a:r>
                      <a:r>
                        <a:rPr lang="ko-KR" altLang="en-US" sz="1400" dirty="0">
                          <a:effectLst/>
                        </a:rPr>
                        <a:t>에 </a:t>
                      </a:r>
                      <a:r>
                        <a:rPr lang="ko-KR" altLang="en-US" sz="1400" dirty="0" err="1">
                          <a:effectLst/>
                        </a:rPr>
                        <a:t>유효기한이</a:t>
                      </a:r>
                      <a:r>
                        <a:rPr lang="ko-KR" altLang="en-US" sz="1400" dirty="0">
                          <a:effectLst/>
                        </a:rPr>
                        <a:t> 있나요</a:t>
                      </a:r>
                      <a:r>
                        <a:rPr lang="en-US" altLang="ko-KR" sz="1400" dirty="0">
                          <a:effectLst/>
                        </a:rPr>
                        <a:t>?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ko-KR" altLang="en-US" sz="1400" dirty="0">
                          <a:effectLst/>
                        </a:rPr>
                        <a:t>라면 같은 식품 특성상 </a:t>
                      </a:r>
                      <a:r>
                        <a:rPr lang="ko-KR" altLang="en-US" sz="1400" dirty="0" err="1">
                          <a:effectLst/>
                        </a:rPr>
                        <a:t>유효기한</a:t>
                      </a:r>
                      <a:r>
                        <a:rPr lang="ko-KR" altLang="en-US" sz="1400" dirty="0">
                          <a:effectLst/>
                        </a:rPr>
                        <a:t> 관리가 </a:t>
                      </a:r>
                      <a:r>
                        <a:rPr lang="ko-KR" altLang="en-US" sz="1400" dirty="0" err="1">
                          <a:effectLst/>
                        </a:rPr>
                        <a:t>필수라서</a:t>
                      </a:r>
                      <a:r>
                        <a:rPr lang="ko-KR" altLang="en-US" sz="1400" dirty="0">
                          <a:effectLst/>
                        </a:rPr>
                        <a:t> 넣었고</a:t>
                      </a:r>
                      <a:r>
                        <a:rPr lang="en-US" altLang="ko-KR" sz="1400" dirty="0">
                          <a:effectLst/>
                        </a:rPr>
                        <a:t>, </a:t>
                      </a:r>
                      <a:r>
                        <a:rPr lang="ko-KR" altLang="en-US" sz="1400" dirty="0">
                          <a:effectLst/>
                        </a:rPr>
                        <a:t>다른 업종 전환 시엔 선택 항목으로 둘 예정</a:t>
                      </a:r>
                      <a:r>
                        <a:rPr lang="en-US" altLang="ko-KR" sz="1400" dirty="0">
                          <a:effectLst/>
                        </a:rPr>
                        <a:t>.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317434654"/>
                  </a:ext>
                </a:extLst>
              </a:tr>
              <a:tr h="435597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dirty="0">
                          <a:effectLst/>
                        </a:rPr>
                        <a:t>보안은 어떻게 </a:t>
                      </a:r>
                      <a:r>
                        <a:rPr lang="ko-KR" altLang="en-US" sz="1400" dirty="0" err="1">
                          <a:effectLst/>
                        </a:rPr>
                        <a:t>처리했나요</a:t>
                      </a:r>
                      <a:r>
                        <a:rPr lang="en-US" altLang="ko-KR" sz="1400" dirty="0">
                          <a:effectLst/>
                        </a:rPr>
                        <a:t>?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ko-KR" altLang="en-US" sz="1400" dirty="0">
                          <a:effectLst/>
                        </a:rPr>
                        <a:t>비밀번호는 </a:t>
                      </a:r>
                      <a:r>
                        <a:rPr lang="ko-KR" altLang="en-US" sz="1400" dirty="0" err="1">
                          <a:effectLst/>
                        </a:rPr>
                        <a:t>평문</a:t>
                      </a:r>
                      <a:r>
                        <a:rPr lang="ko-KR" altLang="en-US" sz="1400" dirty="0">
                          <a:effectLst/>
                        </a:rPr>
                        <a:t> 저장 없이 </a:t>
                      </a:r>
                      <a:r>
                        <a:rPr lang="ko-KR" altLang="en-US" sz="1400" dirty="0" err="1">
                          <a:effectLst/>
                        </a:rPr>
                        <a:t>솔트</a:t>
                      </a:r>
                      <a:r>
                        <a:rPr lang="en-US" altLang="ko-KR" sz="1400" dirty="0">
                          <a:effectLst/>
                        </a:rPr>
                        <a:t>+SHA-256 </a:t>
                      </a:r>
                      <a:r>
                        <a:rPr lang="ko-KR" altLang="en-US" sz="1400" dirty="0">
                          <a:effectLst/>
                        </a:rPr>
                        <a:t>해시로 저장</a:t>
                      </a:r>
                      <a:r>
                        <a:rPr lang="en-US" altLang="ko-KR" sz="1400" dirty="0">
                          <a:effectLst/>
                        </a:rPr>
                        <a:t>.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631079487"/>
                  </a:ext>
                </a:extLst>
              </a:tr>
              <a:tr h="719242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dirty="0">
                          <a:effectLst/>
                        </a:rPr>
                        <a:t>왜 </a:t>
                      </a:r>
                      <a:r>
                        <a:rPr lang="en-US" altLang="ko-KR" sz="1400" dirty="0">
                          <a:effectLst/>
                        </a:rPr>
                        <a:t>OPERATOR</a:t>
                      </a:r>
                      <a:r>
                        <a:rPr lang="ko-KR" altLang="en-US" sz="1400" dirty="0">
                          <a:effectLst/>
                        </a:rPr>
                        <a:t>와 </a:t>
                      </a:r>
                      <a:r>
                        <a:rPr lang="en-US" altLang="ko-KR" sz="1400" dirty="0">
                          <a:effectLst/>
                        </a:rPr>
                        <a:t>INSPECTOR </a:t>
                      </a:r>
                      <a:r>
                        <a:rPr lang="ko-KR" altLang="en-US" sz="1400" dirty="0">
                          <a:effectLst/>
                        </a:rPr>
                        <a:t>권한을 </a:t>
                      </a:r>
                      <a:r>
                        <a:rPr lang="ko-KR" altLang="en-US" sz="1400" dirty="0" err="1">
                          <a:effectLst/>
                        </a:rPr>
                        <a:t>나눴나요</a:t>
                      </a:r>
                      <a:r>
                        <a:rPr lang="en-US" altLang="ko-KR" sz="1400" dirty="0">
                          <a:effectLst/>
                        </a:rPr>
                        <a:t>?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ko-KR" altLang="en-US" sz="1400" dirty="0">
                          <a:effectLst/>
                        </a:rPr>
                        <a:t>검사자가 실수로 생산</a:t>
                      </a:r>
                      <a:r>
                        <a:rPr lang="en-US" altLang="ko-KR" sz="1400" dirty="0">
                          <a:effectLst/>
                        </a:rPr>
                        <a:t>·</a:t>
                      </a:r>
                      <a:r>
                        <a:rPr lang="ko-KR" altLang="en-US" sz="1400" dirty="0">
                          <a:effectLst/>
                        </a:rPr>
                        <a:t>입고 데이터를 건드리지 않게</a:t>
                      </a:r>
                      <a:r>
                        <a:rPr lang="en-US" altLang="ko-KR" sz="1400" dirty="0">
                          <a:effectLst/>
                        </a:rPr>
                        <a:t>, </a:t>
                      </a:r>
                      <a:r>
                        <a:rPr lang="ko-KR" altLang="en-US" sz="1400" dirty="0">
                          <a:effectLst/>
                        </a:rPr>
                        <a:t>작업자가 검사 판정에 관여하지 않게 역할별로 화면 자체를 분리</a:t>
                      </a:r>
                      <a:r>
                        <a:rPr lang="en-US" altLang="ko-KR" sz="1400" dirty="0">
                          <a:effectLst/>
                        </a:rPr>
                        <a:t>.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082081759"/>
                  </a:ext>
                </a:extLst>
              </a:tr>
              <a:tr h="1002886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dirty="0">
                          <a:effectLst/>
                        </a:rPr>
                        <a:t>생산계획과 실제 생산은 어떻게 연결되나요</a:t>
                      </a:r>
                      <a:r>
                        <a:rPr lang="en-US" altLang="ko-KR" sz="1400" dirty="0">
                          <a:effectLst/>
                        </a:rPr>
                        <a:t>?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ko-KR" sz="1400" dirty="0">
                          <a:effectLst/>
                        </a:rPr>
                        <a:t>production </a:t>
                      </a:r>
                      <a:r>
                        <a:rPr lang="ko-KR" altLang="en-US" sz="1400" dirty="0">
                          <a:effectLst/>
                        </a:rPr>
                        <a:t>테이블은 </a:t>
                      </a:r>
                      <a:r>
                        <a:rPr lang="en-US" altLang="ko-KR" sz="1400" dirty="0" err="1">
                          <a:effectLst/>
                        </a:rPr>
                        <a:t>output_lot_id</a:t>
                      </a:r>
                      <a:r>
                        <a:rPr lang="ko-KR" altLang="en-US" sz="1400" dirty="0">
                          <a:effectLst/>
                        </a:rPr>
                        <a:t>가 필수라 아직 실물이 없는 계획을 못 담아서</a:t>
                      </a:r>
                      <a:r>
                        <a:rPr lang="en-US" altLang="ko-KR" sz="1400" dirty="0">
                          <a:effectLst/>
                        </a:rPr>
                        <a:t>, </a:t>
                      </a:r>
                      <a:r>
                        <a:rPr lang="ko-KR" altLang="en-US" sz="1400" dirty="0">
                          <a:effectLst/>
                        </a:rPr>
                        <a:t>별도 </a:t>
                      </a:r>
                      <a:r>
                        <a:rPr lang="en-US" altLang="ko-KR" sz="1400" dirty="0" err="1">
                          <a:effectLst/>
                        </a:rPr>
                        <a:t>production_plan</a:t>
                      </a:r>
                      <a:r>
                        <a:rPr lang="en-US" altLang="ko-KR" sz="1400" dirty="0">
                          <a:effectLst/>
                        </a:rPr>
                        <a:t> </a:t>
                      </a:r>
                      <a:r>
                        <a:rPr lang="ko-KR" altLang="en-US" sz="1400" dirty="0">
                          <a:effectLst/>
                        </a:rPr>
                        <a:t>테이블로 분리</a:t>
                      </a:r>
                      <a:r>
                        <a:rPr lang="en-US" altLang="ko-KR" sz="1400" dirty="0">
                          <a:effectLst/>
                        </a:rPr>
                        <a:t>. </a:t>
                      </a:r>
                      <a:r>
                        <a:rPr lang="ko-KR" altLang="en-US" sz="1400" dirty="0">
                          <a:effectLst/>
                        </a:rPr>
                        <a:t>생산 등록 시 계획을 선택하면 자동으로 계획이 </a:t>
                      </a:r>
                      <a:r>
                        <a:rPr lang="en-US" altLang="ko-KR" sz="1400" dirty="0">
                          <a:effectLst/>
                        </a:rPr>
                        <a:t>COMPLETED</a:t>
                      </a:r>
                      <a:r>
                        <a:rPr lang="ko-KR" altLang="en-US" sz="1400" dirty="0">
                          <a:effectLst/>
                        </a:rPr>
                        <a:t>로 전환되며 연결됨</a:t>
                      </a:r>
                      <a:r>
                        <a:rPr lang="en-US" altLang="ko-KR" sz="1400" dirty="0">
                          <a:effectLst/>
                        </a:rPr>
                        <a:t>.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31947976"/>
                  </a:ext>
                </a:extLst>
              </a:tr>
              <a:tr h="719242"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 dirty="0">
                          <a:effectLst/>
                        </a:rPr>
                        <a:t>BOM</a:t>
                      </a:r>
                      <a:r>
                        <a:rPr lang="ko-KR" altLang="en-US" sz="1400" dirty="0">
                          <a:effectLst/>
                        </a:rPr>
                        <a:t>은 왜 필요한가요</a:t>
                      </a:r>
                      <a:r>
                        <a:rPr lang="en-US" altLang="ko-KR" sz="1400" dirty="0">
                          <a:effectLst/>
                        </a:rPr>
                        <a:t>?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ko-KR" altLang="en-US" sz="1400" dirty="0">
                          <a:effectLst/>
                        </a:rPr>
                        <a:t>제품 </a:t>
                      </a:r>
                      <a:r>
                        <a:rPr lang="en-US" altLang="ko-KR" sz="1400" dirty="0">
                          <a:effectLst/>
                        </a:rPr>
                        <a:t>1</a:t>
                      </a:r>
                      <a:r>
                        <a:rPr lang="ko-KR" altLang="en-US" sz="1400" dirty="0">
                          <a:effectLst/>
                        </a:rPr>
                        <a:t>단위당 원자재 소요량을 미리 </a:t>
                      </a:r>
                      <a:r>
                        <a:rPr lang="ko-KR" altLang="en-US" sz="1400" dirty="0" err="1">
                          <a:effectLst/>
                        </a:rPr>
                        <a:t>정의해두면</a:t>
                      </a:r>
                      <a:r>
                        <a:rPr lang="en-US" altLang="ko-KR" sz="1400" dirty="0">
                          <a:effectLst/>
                        </a:rPr>
                        <a:t>, </a:t>
                      </a:r>
                      <a:r>
                        <a:rPr lang="ko-KR" altLang="en-US" sz="1400" dirty="0" err="1">
                          <a:effectLst/>
                        </a:rPr>
                        <a:t>생산수량만</a:t>
                      </a:r>
                      <a:r>
                        <a:rPr lang="ko-KR" altLang="en-US" sz="1400" dirty="0">
                          <a:effectLst/>
                        </a:rPr>
                        <a:t> 입력해도 필요한 원자재 양과 부족 여부가 자동 계산됨</a:t>
                      </a:r>
                      <a:r>
                        <a:rPr lang="en-US" altLang="ko-KR" sz="1400" dirty="0">
                          <a:effectLst/>
                        </a:rPr>
                        <a:t>. </a:t>
                      </a:r>
                      <a:r>
                        <a:rPr lang="ko-KR" altLang="en-US" sz="1400" dirty="0">
                          <a:effectLst/>
                        </a:rPr>
                        <a:t>사람이 매번 계산할 필요가 없어짐</a:t>
                      </a:r>
                      <a:r>
                        <a:rPr lang="en-US" altLang="ko-KR" sz="1400" dirty="0">
                          <a:effectLst/>
                        </a:rPr>
                        <a:t>.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534877177"/>
                  </a:ext>
                </a:extLst>
              </a:tr>
              <a:tr h="730945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dirty="0">
                          <a:effectLst/>
                        </a:rPr>
                        <a:t>불합격</a:t>
                      </a:r>
                      <a:r>
                        <a:rPr lang="en-US" altLang="ko-KR" sz="1400" dirty="0">
                          <a:effectLst/>
                        </a:rPr>
                        <a:t>(FAIL) LOT</a:t>
                      </a:r>
                      <a:r>
                        <a:rPr lang="ko-KR" altLang="en-US" sz="1400" dirty="0">
                          <a:effectLst/>
                        </a:rPr>
                        <a:t>는 어떻게 막나요</a:t>
                      </a:r>
                      <a:r>
                        <a:rPr lang="en-US" altLang="ko-KR" sz="1400" dirty="0">
                          <a:effectLst/>
                        </a:rPr>
                        <a:t>?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ko-KR" altLang="en-US" sz="1400" dirty="0">
                          <a:effectLst/>
                        </a:rPr>
                        <a:t>출하 등록 시 선택한 </a:t>
                      </a:r>
                      <a:r>
                        <a:rPr lang="en-US" altLang="ko-KR" sz="1400" dirty="0">
                          <a:effectLst/>
                        </a:rPr>
                        <a:t>LOT</a:t>
                      </a:r>
                      <a:r>
                        <a:rPr lang="ko-KR" altLang="en-US" sz="1400" dirty="0">
                          <a:effectLst/>
                        </a:rPr>
                        <a:t>의 검사 결과를 다시 조회해서</a:t>
                      </a:r>
                      <a:r>
                        <a:rPr lang="en-US" altLang="ko-KR" sz="1400" dirty="0">
                          <a:effectLst/>
                        </a:rPr>
                        <a:t>, FAIL</a:t>
                      </a:r>
                      <a:r>
                        <a:rPr lang="ko-KR" altLang="en-US" sz="1400" dirty="0">
                          <a:effectLst/>
                        </a:rPr>
                        <a:t>이면 서버</a:t>
                      </a:r>
                      <a:r>
                        <a:rPr lang="en-US" altLang="ko-KR" sz="1400" dirty="0">
                          <a:effectLst/>
                        </a:rPr>
                        <a:t>(</a:t>
                      </a:r>
                      <a:r>
                        <a:rPr lang="ko-KR" altLang="en-US" sz="1400" dirty="0" err="1">
                          <a:effectLst/>
                        </a:rPr>
                        <a:t>백엔드</a:t>
                      </a:r>
                      <a:r>
                        <a:rPr lang="en-US" altLang="ko-KR" sz="1400" dirty="0">
                          <a:effectLst/>
                        </a:rPr>
                        <a:t>) </a:t>
                      </a:r>
                      <a:r>
                        <a:rPr lang="ko-KR" altLang="en-US" sz="1400" dirty="0">
                          <a:effectLst/>
                        </a:rPr>
                        <a:t>단에서 저장 자체를 막음</a:t>
                      </a:r>
                      <a:r>
                        <a:rPr lang="en-US" altLang="ko-KR" sz="1400" dirty="0">
                          <a:effectLst/>
                        </a:rPr>
                        <a:t>. </a:t>
                      </a:r>
                      <a:r>
                        <a:rPr lang="ko-KR" altLang="en-US" sz="1400" dirty="0">
                          <a:effectLst/>
                        </a:rPr>
                        <a:t>화면에서 실수로 선택해도 최종적으로 차단됨</a:t>
                      </a:r>
                      <a:r>
                        <a:rPr lang="en-US" altLang="ko-KR" sz="1400" dirty="0">
                          <a:effectLst/>
                        </a:rPr>
                        <a:t>.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506257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781</Words>
  <Application>Microsoft Office PowerPoint</Application>
  <PresentationFormat>와이드스크린</PresentationFormat>
  <Paragraphs>185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7" baseType="lpstr">
      <vt:lpstr>맑은 고딕</vt:lpstr>
      <vt:lpstr>Arial</vt:lpstr>
      <vt:lpstr>Calibri</vt:lpstr>
      <vt:lpstr>Cambria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9</cp:revision>
  <dcterms:created xsi:type="dcterms:W3CDTF">2026-08-05T03:54:27Z</dcterms:created>
  <dcterms:modified xsi:type="dcterms:W3CDTF">2026-08-05T22:44:59Z</dcterms:modified>
</cp:coreProperties>
</file>